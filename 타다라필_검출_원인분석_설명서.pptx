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38100"/>
          </a:xfrm>
          <a:prstGeom prst="rect">
            <a:avLst/>
          </a:prstGeom>
          <a:solidFill>
            <a:srgbClr val="00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977639"/>
            <a:ext cx="12191695" cy="38100"/>
          </a:xfrm>
          <a:prstGeom prst="rect">
            <a:avLst/>
          </a:prstGeom>
          <a:solidFill>
            <a:srgbClr val="00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332720" cy="1554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타다라필(Tadalafil) 검출 원인 분석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B9CBDE"/>
                </a:solidFill>
                <a:latin typeface="맑은 고딕"/>
                <a:ea typeface="맑은 고딕"/>
                <a:cs typeface="맑은 고딕"/>
              </a:rPr>
              <a:t>삼지구엽초(음양곽) 고농축 남성 성기능 보조제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1371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1800" b="0">
                <a:solidFill>
                  <a:srgbClr val="9FB4CC"/>
                </a:solidFill>
                <a:latin typeface="맑은 고딕"/>
                <a:ea typeface="맑은 고딕"/>
                <a:cs typeface="맑은 고딕"/>
              </a:rPr>
              <a:t>– 천연 생성설 검토 및 대응 설명서 –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노마드오아시스(주)   |   2026.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10515600" cy="9601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핵심 결론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0"/>
            <a:ext cx="822960" cy="9601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9FB4CC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11155680" cy="105156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698480" cy="10515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삼지구엽초를 아무리 고농축해도 타다라필은 만들어지지 않습니다.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60320"/>
            <a:ext cx="11064240" cy="4023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07A6E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800" b="1">
                <a:solidFill>
                  <a:srgbClr val="1F3355"/>
                </a:solidFill>
                <a:latin typeface="맑은 고딕"/>
                <a:ea typeface="맑은 고딕"/>
                <a:cs typeface="맑은 고딕"/>
              </a:rPr>
              <a:t>타다라필은 식물에 존재하지 않는 100% 인공 합성 의약품입니다.</a:t>
            </a:r>
          </a:p>
          <a:p>
            <a:pPr algn="l" lvl="1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E5C8A"/>
                </a:solidFill>
                <a:latin typeface="맑은 고딕"/>
                <a:ea typeface="맑은 고딕"/>
                <a:cs typeface="맑은 고딕"/>
              </a:rPr>
              <a:t>–  </a:t>
            </a:r>
            <a:r>
              <a:rPr sz="15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제약사가 PDE5만 선택 억제하도록 설계한 '테트라하이드로-β-카볼린' 구조 화합물(시알리스)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07A6E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800" b="1">
                <a:solidFill>
                  <a:srgbClr val="1F3355"/>
                </a:solidFill>
                <a:latin typeface="맑은 고딕"/>
                <a:ea typeface="맑은 고딕"/>
                <a:cs typeface="맑은 고딕"/>
              </a:rPr>
              <a:t>삼지구엽초의 천연 유효성분은 이카린(Icariin) — 타다라필과 화학 골격이 완전히 다른 별개 물질</a:t>
            </a:r>
          </a:p>
          <a:p>
            <a:pPr algn="l" lvl="1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E5C8A"/>
                </a:solidFill>
                <a:latin typeface="맑은 고딕"/>
                <a:ea typeface="맑은 고딕"/>
                <a:cs typeface="맑은 고딕"/>
              </a:rPr>
              <a:t>–  </a:t>
            </a:r>
            <a:r>
              <a:rPr sz="15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이카린(플라보노이드)에는 타다라필 핵심인 질소 함유 β-카볼린 고리가 아예 없음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07A6E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800" b="1">
                <a:solidFill>
                  <a:srgbClr val="1F3355"/>
                </a:solidFill>
                <a:latin typeface="맑은 고딕"/>
                <a:ea typeface="맑은 고딕"/>
                <a:cs typeface="맑은 고딕"/>
              </a:rPr>
              <a:t>농축·가열로 이카린이 타다라필로 변환되는 화학 경로는 존재하지 않음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07A6E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800" b="1">
                <a:solidFill>
                  <a:srgbClr val="1F3355"/>
                </a:solidFill>
                <a:latin typeface="맑은 고딕"/>
                <a:ea typeface="맑은 고딕"/>
                <a:cs typeface="맑은 고딕"/>
              </a:rPr>
              <a:t>'천연 생성'을 입증한 논문은 없음 — 관련 문헌은 전부 '불법 혼입(adulteration)' 검출 사례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800" b="1">
                <a:solidFill>
                  <a:srgbClr val="C02A2A"/>
                </a:solidFill>
                <a:latin typeface="맑은 고딕"/>
                <a:ea typeface="맑은 고딕"/>
                <a:cs typeface="맑은 고딕"/>
              </a:rPr>
              <a:t>⇒ 검출은 천연 유래가 아니라 공급망 어딘가의 '혼입(오염)'으로 보아야 하며,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C02A2A"/>
                </a:solidFill>
                <a:latin typeface="맑은 고딕"/>
                <a:ea typeface="맑은 고딕"/>
                <a:cs typeface="맑은 고딕"/>
              </a:rPr>
              <a:t>     원료·제조 전반에 대한 즉각적 원인 추적 조사가 필요합니다.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10515600" cy="9601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검출 대상 제품 개요 — 14종 복합 원료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0"/>
            <a:ext cx="822960" cy="9601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9FB4CC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F3355"/>
                </a:solidFill>
                <a:latin typeface="맑은 고딕"/>
                <a:ea typeface="맑은 고딕"/>
                <a:cs typeface="맑은 고딕"/>
              </a:rPr>
              <a:t>시험의뢰서(한국기능식품연구원, 2026-06-12 접수) 기준, 단일 원료가 아닌 14종 한약재 복합 처방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828800"/>
          <a:ext cx="11064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원료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원료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원료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원료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  구기자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  복분자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  산약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  오미자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  목단피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C02A2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  사상자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  숙지황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  육계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  복령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  산수유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C02A2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  야관문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C02A2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  음양곽(삼지구엽초)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C02A2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14  토사자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  택사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C02A2A"/>
                </a:solidFill>
                <a:latin typeface="맑은 고딕"/>
                <a:ea typeface="맑은 고딕"/>
                <a:cs typeface="맑은 고딕"/>
              </a:rPr>
              <a:t>★ </a:t>
            </a:r>
            <a:r>
              <a:rPr sz="1400" b="0">
                <a:solidFill>
                  <a:srgbClr val="1F3355"/>
                </a:solidFill>
                <a:latin typeface="맑은 고딕"/>
                <a:ea typeface="맑은 고딕"/>
                <a:cs typeface="맑은 고딕"/>
              </a:rPr>
              <a:t>성기능 관련 한약재(사상자·야관문·음양곽·토사자 등)는 국내외에서 타다라필 불법 혼입이 가장 빈번한 품목군 → 혼입 가능 지점이 넓음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10515600" cy="9601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타다라필(Tadalafil)이란 무엇인가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0"/>
            <a:ext cx="822960" cy="9601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9FB4CC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07A6E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800" b="1">
                <a:solidFill>
                  <a:srgbClr val="1F3355"/>
                </a:solidFill>
                <a:latin typeface="맑은 고딕"/>
                <a:ea typeface="맑은 고딕"/>
                <a:cs typeface="맑은 고딕"/>
              </a:rPr>
              <a:t>분류 : PDE5 억제제 — 발기부전 치료 전문의약품 (상품명 '시알리스/Cialis')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07A6E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8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CAS 번호 : 171596-29-5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07A6E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800" b="1">
                <a:solidFill>
                  <a:srgbClr val="1F3355"/>
                </a:solidFill>
                <a:latin typeface="맑은 고딕"/>
                <a:ea typeface="맑은 고딕"/>
                <a:cs typeface="맑은 고딕"/>
              </a:rPr>
              <a:t>화학적 본질 : 테트라하이드로-β-카볼린(tetrahydro-β-carboline) 골격 기반</a:t>
            </a:r>
          </a:p>
          <a:p>
            <a:pPr algn="l" lvl="1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E5C8A"/>
                </a:solidFill>
                <a:latin typeface="맑은 고딕"/>
                <a:ea typeface="맑은 고딕"/>
                <a:cs typeface="맑은 고딕"/>
              </a:rPr>
              <a:t>–  </a:t>
            </a:r>
            <a:r>
              <a:rPr sz="15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제약사(ICOS/Lilly)가 구조 기반 설계(structure-based design)로 합성·최적화한 인공 화합물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07A6E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800" b="1">
                <a:solidFill>
                  <a:srgbClr val="1F3355"/>
                </a:solidFill>
                <a:latin typeface="맑은 고딕"/>
                <a:ea typeface="맑은 고딕"/>
                <a:cs typeface="맑은 고딕"/>
              </a:rPr>
              <a:t>입체화학 : 두 개의 키랄 탄소, 시판품은 (6R,12aR) 단일 이성질체</a:t>
            </a:r>
          </a:p>
          <a:p>
            <a:pPr algn="l" lvl="1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E5C8A"/>
                </a:solidFill>
                <a:latin typeface="맑은 고딕"/>
                <a:ea typeface="맑은 고딕"/>
                <a:cs typeface="맑은 고딕"/>
              </a:rPr>
              <a:t>–  </a:t>
            </a:r>
            <a:r>
              <a:rPr sz="15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자연 식물 대사에서 이런 정밀 입체선택적 합성이 우연히 일어날 가능성은 없음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07A6E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8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FDA 승인 : 2003년 12월</a:t>
            </a:r>
          </a:p>
          <a:p>
            <a:pPr algn="l">
              <a:spcBef>
                <a:spcPts val="1000"/>
              </a:spcBef>
              <a:spcAft>
                <a:spcPts val="600"/>
              </a:spcAft>
            </a:pPr>
            <a:r>
              <a:rPr sz="1900" b="1">
                <a:solidFill>
                  <a:srgbClr val="007A6E"/>
                </a:solidFill>
                <a:latin typeface="맑은 고딕"/>
                <a:ea typeface="맑은 고딕"/>
                <a:cs typeface="맑은 고딕"/>
              </a:rPr>
              <a:t>⇒ </a:t>
            </a:r>
            <a:r>
              <a:rPr sz="1900" b="1">
                <a:solidFill>
                  <a:srgbClr val="1F3355"/>
                </a:solidFill>
                <a:latin typeface="맑은 고딕"/>
                <a:ea typeface="맑은 고딕"/>
                <a:cs typeface="맑은 고딕"/>
              </a:rPr>
              <a:t>타다라필은 '정밀하게 합성·설계된 의약품'이며, 자연계(식물)에는 존재하지 않습니다.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10515600" cy="9601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삼지구엽초 천연성분 vs 타다라필 — 구조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0"/>
            <a:ext cx="822960" cy="9601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9FB4CC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25880"/>
          <a:ext cx="110642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4297680"/>
                <a:gridCol w="4297680"/>
              </a:tblGrid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이카린 (삼지구엽초 천연성분)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타다라필 (합성 의약품)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화학 분류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7A6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플라보노이드 배당체 (폴리페놀+당)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C02A2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테트라하이드로-β-카볼린 유도체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기본 골격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7A6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플라본 골격 + 당 + 프레닐기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C02A2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인돌-피리도-피라진다이온 융합 고리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질소 원자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7A6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없음 (플라보노이드 골격)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C02A2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 골격에 다수 포함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유래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7A6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식물 천연 생합성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C02A2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실험실 화학 합성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PDE5 억제력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7A6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약함 (IC50 ~1–6 μM)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C02A2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매우 강함 (선택적)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035040"/>
            <a:ext cx="1106424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3355"/>
                </a:solidFill>
                <a:latin typeface="맑은 고딕"/>
                <a:ea typeface="맑은 고딕"/>
                <a:cs typeface="맑은 고딕"/>
              </a:rPr>
              <a:t>⇒ 두 물질은 탄소 골격 자체가 근본적으로 다름. 이카린 농축으로 '없던 질소 골격'이 새로 만들어질 수 없음.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10515600" cy="9601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'고농축하면 타다라필이 검출된다'설 검토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0"/>
            <a:ext cx="822960" cy="9601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9FB4CC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11155680" cy="77724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결론 : 근거 없음 (과학적으로 성립하지 않음)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11064240" cy="4297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07A6E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800" b="1">
                <a:solidFill>
                  <a:srgbClr val="1F3355"/>
                </a:solidFill>
                <a:latin typeface="맑은 고딕"/>
                <a:ea typeface="맑은 고딕"/>
                <a:cs typeface="맑은 고딕"/>
              </a:rPr>
              <a:t>천연 생성을 입증한 논문은 존재하지 않음</a:t>
            </a:r>
          </a:p>
          <a:p>
            <a:pPr algn="l" lvl="1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E5C8A"/>
                </a:solidFill>
                <a:latin typeface="맑은 고딕"/>
                <a:ea typeface="맑은 고딕"/>
                <a:cs typeface="맑은 고딕"/>
              </a:rPr>
              <a:t>–  </a:t>
            </a:r>
            <a:r>
              <a:rPr sz="15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Epimedium + tadalafil 문헌은 전부 '불법 혼입·위조 제품에서 타다라필 검출' 내용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007A6E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800" b="1">
                <a:solidFill>
                  <a:srgbClr val="1F3355"/>
                </a:solidFill>
                <a:latin typeface="맑은 고딕"/>
                <a:ea typeface="맑은 고딕"/>
                <a:cs typeface="맑은 고딕"/>
              </a:rPr>
              <a:t>'농축하면 검출된다'의 진짜 의미 — 생성이 아니라 '가시화'</a:t>
            </a:r>
          </a:p>
          <a:p>
            <a:pPr algn="l" lvl="1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E5C8A"/>
                </a:solidFill>
                <a:latin typeface="맑은 고딕"/>
                <a:ea typeface="맑은 고딕"/>
                <a:cs typeface="맑은 고딕"/>
              </a:rPr>
              <a:t>–  </a:t>
            </a:r>
            <a:r>
              <a:rPr sz="15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원료에 (어떤 경로로든) 미량 혼입돼 있던 타다라필이 고농축 공정에서 함께 농축</a:t>
            </a:r>
          </a:p>
          <a:p>
            <a:pPr algn="l" lvl="1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E5C8A"/>
                </a:solidFill>
                <a:latin typeface="맑은 고딕"/>
                <a:ea typeface="맑은 고딕"/>
                <a:cs typeface="맑은 고딕"/>
              </a:rPr>
              <a:t>–  </a:t>
            </a:r>
            <a:r>
              <a:rPr sz="15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검출한계(LOD)를 넘어서면서 비로소 '드러나는' 현상일 뿐 (없던 물질을 만드는 것이 아님)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007A6E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800" b="1">
                <a:solidFill>
                  <a:srgbClr val="1F3355"/>
                </a:solidFill>
                <a:latin typeface="맑은 고딕"/>
                <a:ea typeface="맑은 고딕"/>
                <a:cs typeface="맑은 고딕"/>
              </a:rPr>
              <a:t>타다라필 유사체(designer analogue) 문제</a:t>
            </a:r>
          </a:p>
          <a:p>
            <a:pPr algn="l" lvl="1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E5C8A"/>
                </a:solidFill>
                <a:latin typeface="맑은 고딕"/>
                <a:ea typeface="맑은 고딕"/>
                <a:cs typeface="맑은 고딕"/>
              </a:rPr>
              <a:t>–  </a:t>
            </a:r>
            <a:r>
              <a:rPr sz="15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단속 회피용으로 구조를 변형한 유사체를 혼입 → 분석기가 타다라필 계열로 보고하기도 함</a:t>
            </a:r>
          </a:p>
          <a:p>
            <a:pPr algn="l" lvl="1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E5C8A"/>
                </a:solidFill>
                <a:latin typeface="맑은 고딕"/>
                <a:ea typeface="맑은 고딕"/>
                <a:cs typeface="맑은 고딕"/>
              </a:rPr>
              <a:t>–  </a:t>
            </a:r>
            <a:r>
              <a:rPr sz="15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이 역시 천연 생성이 아니라 인위적 혼입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10515600" cy="9601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부록 : 한방자료(淫羊藿黄酮) 검토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0"/>
            <a:ext cx="822960" cy="9601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9FB4CC"/>
                </a:solidFill>
                <a:latin typeface="맑은 고딕"/>
                <a:ea typeface="맑은 고딕"/>
                <a:cs typeface="맑은 고딕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64240" cy="5303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07A6E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800" b="1">
                <a:solidFill>
                  <a:srgbClr val="1F3355"/>
                </a:solidFill>
                <a:latin typeface="맑은 고딕"/>
                <a:ea typeface="맑은 고딕"/>
                <a:cs typeface="맑은 고딕"/>
              </a:rPr>
              <a:t>성격 : 학술 자료라기보다 효능 표방형 마케팅·홍보성 설명문 → 규제 근거자료로는 부적합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007A6E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8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맞는 부분(딱 하나) : 이카린·이카리사이드가 PDE5를 억제한다 (단, 약하고 느림 — 자료도 인정)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007A6E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800" b="1">
                <a:solidFill>
                  <a:srgbClr val="C02A2A"/>
                </a:solidFill>
                <a:latin typeface="맑은 고딕"/>
                <a:ea typeface="맑은 고딕"/>
                <a:cs typeface="맑은 고딕"/>
              </a:rPr>
              <a:t>그러나 이 자료가 오히려 증명하는 것 :</a:t>
            </a:r>
          </a:p>
          <a:p>
            <a:pPr algn="l" lvl="1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E5C8A"/>
                </a:solidFill>
                <a:latin typeface="맑은 고딕"/>
                <a:ea typeface="맑은 고딕"/>
                <a:cs typeface="맑은 고딕"/>
              </a:rPr>
              <a:t>–  </a:t>
            </a:r>
            <a:r>
              <a:rPr sz="15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자료의 비교표가 '淫羊藿黄酮(천연)'과 '他达拉非 타다라필(합성)'을 서로 다른 두 물질로 명확히 구분</a:t>
            </a:r>
          </a:p>
          <a:p>
            <a:pPr algn="l" lvl="1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E5C8A"/>
                </a:solidFill>
                <a:latin typeface="맑은 고딕"/>
                <a:ea typeface="맑은 고딕"/>
                <a:cs typeface="맑은 고딕"/>
              </a:rPr>
              <a:t>–  </a:t>
            </a:r>
            <a:r>
              <a:rPr sz="15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즉 이 자료조차 '삼지구엽초 = 타다라필' 또는 '농축 시 타다라필 생성'이라고 말하지 않음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800" b="1">
                <a:solidFill>
                  <a:srgbClr val="C02A2A"/>
                </a:solidFill>
                <a:latin typeface="맑은 고딕"/>
                <a:ea typeface="맑은 고딕"/>
                <a:cs typeface="맑은 고딕"/>
              </a:rPr>
              <a:t>핵심 함정 : </a:t>
            </a:r>
            <a:r>
              <a:rPr sz="1800" b="1">
                <a:solidFill>
                  <a:srgbClr val="1F3355"/>
                </a:solidFill>
                <a:latin typeface="맑은 고딕"/>
                <a:ea typeface="맑은 고딕"/>
                <a:cs typeface="맑은 고딕"/>
              </a:rPr>
              <a:t>'작용 통로가 같다(同源)' ≠ '같은 분자'</a:t>
            </a:r>
          </a:p>
          <a:p>
            <a:pPr algn="l" lvl="1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E5C8A"/>
                </a:solidFill>
                <a:latin typeface="맑은 고딕"/>
                <a:ea typeface="맑은 고딕"/>
                <a:cs typeface="맑은 고딕"/>
              </a:rPr>
              <a:t>–  </a:t>
            </a:r>
            <a:r>
              <a:rPr sz="15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커피 카페인과 약국 각성제가 '잠을 쫓는' 효과는 같아도 분자는 완전히 다른 것과 동일</a:t>
            </a:r>
          </a:p>
          <a:p>
            <a:pPr algn="l" lvl="1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E5C8A"/>
                </a:solidFill>
                <a:latin typeface="맑은 고딕"/>
                <a:ea typeface="맑은 고딕"/>
                <a:cs typeface="맑은 고딕"/>
              </a:rPr>
              <a:t>–  </a:t>
            </a:r>
            <a:r>
              <a:rPr sz="15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둘 다 PDE5를 친다는 사실과, 기기에 '타다라필'이라는 특정 분자가 잡힌 것은 별개의 문제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700" b="1">
                <a:solidFill>
                  <a:srgbClr val="C02A2A"/>
                </a:solidFill>
                <a:latin typeface="맑은 고딕"/>
                <a:ea typeface="맑은 고딕"/>
                <a:cs typeface="맑은 고딕"/>
              </a:rPr>
              <a:t>⇒ 이 자료는 '천연 생성' 소명의 근거가 될 수 없음.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10515600" cy="9601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반드시 확인 — '검사가 이카린을 오인했나?'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0"/>
            <a:ext cx="822960" cy="9601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9FB4CC"/>
                </a:solidFill>
                <a:latin typeface="맑은 고딕"/>
                <a:ea typeface="맑은 고딕"/>
                <a:cs typeface="맑은 고딕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64240" cy="1828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07A6E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800" b="1">
                <a:solidFill>
                  <a:srgbClr val="1F3355"/>
                </a:solidFill>
                <a:latin typeface="맑은 고딕"/>
                <a:ea typeface="맑은 고딕"/>
                <a:cs typeface="맑은 고딕"/>
              </a:rPr>
              <a:t>LC-MS/MS(질량분석) 확정시험이라면 → 오인 불가능</a:t>
            </a:r>
          </a:p>
          <a:p>
            <a:pPr algn="l" lvl="1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E5C8A"/>
                </a:solidFill>
                <a:latin typeface="맑은 고딕"/>
                <a:ea typeface="맑은 고딕"/>
                <a:cs typeface="맑은 고딕"/>
              </a:rPr>
              <a:t>–  </a:t>
            </a:r>
            <a:r>
              <a:rPr sz="15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타다라필은 고유 분자량·질량파편(m/z)으로 식별 / 이카린은 분자량이 완전히 달라 오인될 수 없음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07A6E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800" b="1">
                <a:solidFill>
                  <a:srgbClr val="1F3355"/>
                </a:solidFill>
                <a:latin typeface="맑은 고딕"/>
                <a:ea typeface="맑은 고딕"/>
                <a:cs typeface="맑은 고딕"/>
              </a:rPr>
              <a:t>단순 색반응·간이키트·TLC만으로 했다면 → 위양성 가능성 검토 여지 있음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11064240" cy="502920"/>
          </a:xfrm>
          <a:prstGeom prst="rect">
            <a:avLst/>
          </a:prstGeom>
          <a:solidFill>
            <a:srgbClr val="00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106984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검사기관에 반드시 확인할 3가지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886200"/>
            <a:ext cx="11064240" cy="2560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07A6E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800" b="1">
                <a:solidFill>
                  <a:srgbClr val="1F3355"/>
                </a:solidFill>
                <a:latin typeface="맑은 고딕"/>
                <a:ea typeface="맑은 고딕"/>
                <a:cs typeface="맑은 고딕"/>
              </a:rPr>
              <a:t>① 분석법 — LC-MS/MS 확정시험인가, 단순 스크리닝인가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07A6E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800" b="1">
                <a:solidFill>
                  <a:srgbClr val="1F3355"/>
                </a:solidFill>
                <a:latin typeface="맑은 고딕"/>
                <a:ea typeface="맑은 고딕"/>
                <a:cs typeface="맑은 고딕"/>
              </a:rPr>
              <a:t>② 검출 물질 — 타다라필 본체인가, 유사체(analogue)인가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07A6E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800" b="1">
                <a:solidFill>
                  <a:srgbClr val="1F3355"/>
                </a:solidFill>
                <a:latin typeface="맑은 고딕"/>
                <a:ea typeface="맑은 고딕"/>
                <a:cs typeface="맑은 고딕"/>
              </a:rPr>
              <a:t>③ 정량값 — 몇 mg/회분, ppm 인가 (미량=혼입/교차오염, 유효량=명백한 첨가)</a:t>
            </a:r>
          </a:p>
          <a:p>
            <a:pPr algn="l">
              <a:spcBef>
                <a:spcPts val="800"/>
              </a:spcBef>
              <a:spcAft>
                <a:spcPts val="600"/>
              </a:spcAft>
            </a:pPr>
            <a:r>
              <a:rPr sz="1600" b="1">
                <a:solidFill>
                  <a:srgbClr val="C02A2A"/>
                </a:solidFill>
                <a:latin typeface="맑은 고딕"/>
                <a:ea typeface="맑은 고딕"/>
                <a:cs typeface="맑은 고딕"/>
              </a:rPr>
              <a:t>⇒ LC-MS/MS에서 본체가 유효량으로 검출됐다면, 한방자료로 설명 불가 → 혼입으로 결론.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10515600" cy="9601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실제 가능한 원인 — 혼입 경로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0"/>
            <a:ext cx="822960" cy="9601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9FB4CC"/>
                </a:solidFill>
                <a:latin typeface="맑은 고딕"/>
                <a:ea typeface="맑은 고딕"/>
                <a:cs typeface="맑은 고딕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007A6E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800" b="1">
                <a:solidFill>
                  <a:srgbClr val="1F3355"/>
                </a:solidFill>
                <a:latin typeface="맑은 고딕"/>
                <a:ea typeface="맑은 고딕"/>
                <a:cs typeface="맑은 고딕"/>
              </a:rPr>
              <a:t>① 원료(한약재) 공급단계 부정혼입  ★가능성 높음</a:t>
            </a:r>
          </a:p>
          <a:p>
            <a:pPr algn="l" lvl="1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E5C8A"/>
                </a:solidFill>
                <a:latin typeface="맑은 고딕"/>
                <a:ea typeface="맑은 고딕"/>
                <a:cs typeface="맑은 고딕"/>
              </a:rPr>
              <a:t>–  </a:t>
            </a:r>
            <a:r>
              <a:rPr sz="15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성기능 관련 한약재는 타다라필·실데나필 불법 혼입이 가장 빈번 / 일부 원료상이 분말 단계에서 첨가</a:t>
            </a:r>
          </a:p>
          <a:p>
            <a:pPr algn="l" lvl="1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E5C8A"/>
                </a:solidFill>
                <a:latin typeface="맑은 고딕"/>
                <a:ea typeface="맑은 고딕"/>
                <a:cs typeface="맑은 고딕"/>
              </a:rPr>
              <a:t>–  </a:t>
            </a:r>
            <a:r>
              <a:rPr sz="15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→ 14종 원료 각각의 입고검사 성적서(CoA)·공급사 추적 필요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007A6E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800" b="1">
                <a:solidFill>
                  <a:srgbClr val="1F3355"/>
                </a:solidFill>
                <a:latin typeface="맑은 고딕"/>
                <a:ea typeface="맑은 고딕"/>
                <a:cs typeface="맑은 고딕"/>
              </a:rPr>
              <a:t>② 제조시설 교차오염 (Cross-contamination)</a:t>
            </a:r>
          </a:p>
          <a:p>
            <a:pPr algn="l" lvl="1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E5C8A"/>
                </a:solidFill>
                <a:latin typeface="맑은 고딕"/>
                <a:ea typeface="맑은 고딕"/>
                <a:cs typeface="맑은 고딕"/>
              </a:rPr>
              <a:t>–  </a:t>
            </a:r>
            <a:r>
              <a:rPr sz="15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동일 설비/라인에서 타다라필 함유 제품 취급 이력 + 세척 불충분 시 미량 혼입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007A6E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800" b="1">
                <a:solidFill>
                  <a:srgbClr val="1F3355"/>
                </a:solidFill>
                <a:latin typeface="맑은 고딕"/>
                <a:ea typeface="맑은 고딕"/>
                <a:cs typeface="맑은 고딕"/>
              </a:rPr>
              <a:t>③ 용수·부형제·캡슐 등 부자재 오염 (가능성 낮으나 배제 불가)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007A6E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800" b="1">
                <a:solidFill>
                  <a:srgbClr val="1F3355"/>
                </a:solidFill>
                <a:latin typeface="맑은 고딕"/>
                <a:ea typeface="맑은 고딕"/>
                <a:cs typeface="맑은 고딕"/>
              </a:rPr>
              <a:t>④ 시험 단계 오염 또는 분석 오류</a:t>
            </a:r>
          </a:p>
          <a:p>
            <a:pPr algn="l" lvl="1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E5C8A"/>
                </a:solidFill>
                <a:latin typeface="맑은 고딕"/>
                <a:ea typeface="맑은 고딕"/>
                <a:cs typeface="맑은 고딕"/>
              </a:rPr>
              <a:t>–  </a:t>
            </a:r>
            <a:r>
              <a:rPr sz="15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재시험·교차검증으로 확인 (재현되면 오염, 재현 안 되면 분석오류 검토)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10515600" cy="9601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대응 조치 (Action Plan)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0"/>
            <a:ext cx="822960" cy="9601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9FB4CC"/>
                </a:solidFill>
                <a:latin typeface="맑은 고딕"/>
                <a:ea typeface="맑은 고딕"/>
                <a:cs typeface="맑은 고딕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5486400" cy="5394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07A6E"/>
                </a:solidFill>
                <a:latin typeface="맑은 고딕"/>
                <a:ea typeface="맑은 고딕"/>
                <a:cs typeface="맑은 고딕"/>
              </a:rPr>
              <a:t>A. 즉시 — 분석·사실 확인</a:t>
            </a:r>
          </a:p>
          <a:p>
            <a:pPr algn="l" lvl="1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E5C8A"/>
                </a:solidFill>
                <a:latin typeface="맑은 고딕"/>
                <a:ea typeface="맑은 고딕"/>
                <a:cs typeface="맑은 고딕"/>
              </a:rPr>
              <a:t>–  </a:t>
            </a:r>
            <a:r>
              <a:rPr sz="15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검출 성적서 원본 확보(물질명·정량값·검출한계)</a:t>
            </a:r>
          </a:p>
          <a:p>
            <a:pPr algn="l" lvl="1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E5C8A"/>
                </a:solidFill>
                <a:latin typeface="맑은 고딕"/>
                <a:ea typeface="맑은 고딕"/>
                <a:cs typeface="맑은 고딕"/>
              </a:rPr>
              <a:t>–  </a:t>
            </a:r>
            <a:r>
              <a:rPr sz="15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공인기관 2곳 이상 재시험·교차분석</a:t>
            </a:r>
          </a:p>
          <a:p>
            <a:pPr algn="l" lvl="1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E5C8A"/>
                </a:solidFill>
                <a:latin typeface="맑은 고딕"/>
                <a:ea typeface="맑은 고딕"/>
                <a:cs typeface="맑은 고딕"/>
              </a:rPr>
              <a:t>–  </a:t>
            </a:r>
            <a:r>
              <a:rPr sz="15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14종 원료 개별 단독 분석 → 혼입 원료 핀포인트 (가장 결정적)</a:t>
            </a:r>
          </a:p>
          <a:p>
            <a:pPr algn="l"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007A6E"/>
                </a:solidFill>
                <a:latin typeface="맑은 고딕"/>
                <a:ea typeface="맑은 고딕"/>
                <a:cs typeface="맑은 고딕"/>
              </a:rPr>
              <a:t>B. 공급망 추적</a:t>
            </a:r>
          </a:p>
          <a:p>
            <a:pPr algn="l" lvl="1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E5C8A"/>
                </a:solidFill>
                <a:latin typeface="맑은 고딕"/>
                <a:ea typeface="맑은 고딕"/>
                <a:cs typeface="맑은 고딕"/>
              </a:rPr>
              <a:t>–  </a:t>
            </a:r>
            <a:r>
              <a:rPr sz="15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원료별 공급사·로트·CoA 전수 확보</a:t>
            </a:r>
          </a:p>
          <a:p>
            <a:pPr algn="l" lvl="1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E5C8A"/>
                </a:solidFill>
                <a:latin typeface="맑은 고딕"/>
                <a:ea typeface="맑은 고딕"/>
                <a:cs typeface="맑은 고딕"/>
              </a:rPr>
              <a:t>–  </a:t>
            </a:r>
            <a:r>
              <a:rPr sz="15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동일 로트 사용 타 배치도 함께 검사</a:t>
            </a:r>
          </a:p>
          <a:p>
            <a:pPr algn="l" lvl="1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E5C8A"/>
                </a:solidFill>
                <a:latin typeface="맑은 고딕"/>
                <a:ea typeface="맑은 고딕"/>
                <a:cs typeface="맑은 고딕"/>
              </a:rPr>
              <a:t>–  </a:t>
            </a:r>
            <a:r>
              <a:rPr sz="15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공급사에 PDE5억제제 무첨가 시험성적서 요구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188720"/>
            <a:ext cx="5486400" cy="5394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07A6E"/>
                </a:solidFill>
                <a:latin typeface="맑은 고딕"/>
                <a:ea typeface="맑은 고딕"/>
                <a:cs typeface="맑은 고딕"/>
              </a:rPr>
              <a:t>C. 제조 환경</a:t>
            </a:r>
          </a:p>
          <a:p>
            <a:pPr algn="l" lvl="1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E5C8A"/>
                </a:solidFill>
                <a:latin typeface="맑은 고딕"/>
                <a:ea typeface="맑은 고딕"/>
                <a:cs typeface="맑은 고딕"/>
              </a:rPr>
              <a:t>–  </a:t>
            </a:r>
            <a:r>
              <a:rPr sz="15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라인 이력(타다라필 제품 취급)·세척검증(CIP) 점검</a:t>
            </a:r>
          </a:p>
          <a:p>
            <a:pPr algn="l" lvl="1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E5C8A"/>
                </a:solidFill>
                <a:latin typeface="맑은 고딕"/>
                <a:ea typeface="맑은 고딕"/>
                <a:cs typeface="맑은 고딕"/>
              </a:rPr>
              <a:t>–  </a:t>
            </a:r>
            <a:r>
              <a:rPr sz="15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설비·작업대 잔류물(swab) 검사</a:t>
            </a:r>
          </a:p>
          <a:p>
            <a:pPr algn="l"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007A6E"/>
                </a:solidFill>
                <a:latin typeface="맑은 고딕"/>
                <a:ea typeface="맑은 고딕"/>
                <a:cs typeface="맑은 고딕"/>
              </a:rPr>
              <a:t>D. 규제·법적 대응</a:t>
            </a:r>
          </a:p>
          <a:p>
            <a:pPr algn="l" lvl="1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E5C8A"/>
                </a:solidFill>
                <a:latin typeface="맑은 고딕"/>
                <a:ea typeface="맑은 고딕"/>
                <a:cs typeface="맑은 고딕"/>
              </a:rPr>
              <a:t>–  </a:t>
            </a:r>
            <a:r>
              <a:rPr sz="15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사실 기반 정직 소명 ('투입 안 함, 혼입 경로 조사 중')</a:t>
            </a:r>
          </a:p>
          <a:p>
            <a:pPr algn="l" lvl="1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E5C8A"/>
                </a:solidFill>
                <a:latin typeface="맑은 고딕"/>
                <a:ea typeface="맑은 고딕"/>
                <a:cs typeface="맑은 고딕"/>
              </a:rPr>
              <a:t>–  </a:t>
            </a:r>
            <a:r>
              <a:rPr sz="15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식품·약사 전문 변호사 자문 병행</a:t>
            </a:r>
          </a:p>
          <a:p>
            <a:pPr algn="l" lvl="1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E5C8A"/>
                </a:solidFill>
                <a:latin typeface="맑은 고딕"/>
                <a:ea typeface="맑은 고딕"/>
                <a:cs typeface="맑은 고딕"/>
              </a:rPr>
              <a:t>–  </a:t>
            </a:r>
            <a:r>
              <a:rPr sz="15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혼입 확인 시 자진 회수·판매중단 검토</a:t>
            </a:r>
          </a:p>
          <a:p>
            <a:pPr algn="l"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C02A2A"/>
                </a:solidFill>
                <a:latin typeface="맑은 고딕"/>
                <a:ea typeface="맑은 고딕"/>
                <a:cs typeface="맑은 고딕"/>
              </a:rPr>
              <a:t>E. 소비자 안전 (최우선)</a:t>
            </a:r>
          </a:p>
          <a:p>
            <a:pPr algn="l" lvl="1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E5C8A"/>
                </a:solidFill>
                <a:latin typeface="맑은 고딕"/>
                <a:ea typeface="맑은 고딕"/>
                <a:cs typeface="맑은 고딕"/>
              </a:rPr>
              <a:t>–  </a:t>
            </a:r>
            <a:r>
              <a:rPr sz="15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질산염 복용자 치명적 저혈압 위험 → 회수·고지 적극 검토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10515600" cy="9601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⚠️ 반드시 숙지 — '천연 생성' 소명 금지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0"/>
            <a:ext cx="822960" cy="9601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9FB4CC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642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/>
                <a:gridCol w="5943600"/>
              </a:tblGrid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이렇게 주장하면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규제기관/전문가의 반박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'삼지구엽초를 농축하니 타다라필이 생겼다'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타다라필은 합성 의약품으로 식물 생성 불가. β-카볼린 구조는 이카린(플라보노이드)과 무관</a:t>
                      </a:r>
                    </a:p>
                  </a:txBody>
                  <a:tcPr>
                    <a:solidFill>
                      <a:srgbClr val="EEF1F5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'관련 논문이 있다'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44444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해당 문헌은 전부 '불법 혼입·위조' 검출 논문. 천연 생성 입증 논문은 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C02A2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</a:t>
                      </a:r>
                    </a:p>
                  </a:txBody>
                  <a:tcPr>
                    <a:solidFill>
                      <a:srgbClr val="F7E3E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C02A2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허위 소명·고의 은폐로 간주 → 가중 처벌 위험</a:t>
                      </a:r>
                    </a:p>
                  </a:txBody>
                  <a:tcPr>
                    <a:solidFill>
                      <a:srgbClr val="F7E3E3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4800600"/>
            <a:ext cx="11064240" cy="1188720"/>
          </a:xfrm>
          <a:prstGeom prst="rect">
            <a:avLst/>
          </a:prstGeom>
          <a:solidFill>
            <a:srgbClr val="00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800600"/>
            <a:ext cx="10607040" cy="11887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⇒ 정직한 원인조사 + 신속한 안전조치가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    법적·평판 리스크를 최소화하는 유일한 길입니다.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0"/>
            <a:ext cx="10515600" cy="9601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참고 문헌 / 출처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0"/>
            <a:ext cx="822960" cy="9601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9FB4CC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5212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 lvl="1"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5C8A"/>
                </a:solidFill>
                <a:latin typeface="맑은 고딕"/>
                <a:ea typeface="맑은 고딕"/>
                <a:cs typeface="맑은 고딕"/>
              </a:rPr>
              <a:t>–  </a:t>
            </a:r>
            <a:r>
              <a:rPr sz="15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Tadalafil 화학정보 (테트라하이드로-β-카볼린, CAS 171596-29-5) — ChemicalBook</a:t>
            </a:r>
          </a:p>
          <a:p>
            <a:pPr algn="l" lvl="1"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5C8A"/>
                </a:solidFill>
                <a:latin typeface="맑은 고딕"/>
                <a:ea typeface="맑은 고딕"/>
                <a:cs typeface="맑은 고딕"/>
              </a:rPr>
              <a:t>–  </a:t>
            </a:r>
            <a:r>
              <a:rPr sz="15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Daugan A. et al., The discovery of tadalafil: a novel and highly selective PDE5 inhibitor — PubMed 14521414</a:t>
            </a:r>
          </a:p>
          <a:p>
            <a:pPr algn="l" lvl="1"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5C8A"/>
                </a:solidFill>
                <a:latin typeface="맑은 고딕"/>
                <a:ea typeface="맑은 고딕"/>
                <a:cs typeface="맑은 고딕"/>
              </a:rPr>
              <a:t>–  </a:t>
            </a:r>
            <a:r>
              <a:rPr sz="15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Icariin이 Epimedium의 천연 유효성분이며 약한 PDE5 억제 활성 — OPSS, Horny Goat Weed</a:t>
            </a:r>
          </a:p>
          <a:p>
            <a:pPr algn="l" lvl="1"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5C8A"/>
                </a:solidFill>
                <a:latin typeface="맑은 고딕"/>
                <a:ea typeface="맑은 고딕"/>
                <a:cs typeface="맑은 고딕"/>
              </a:rPr>
              <a:t>–  </a:t>
            </a:r>
            <a:r>
              <a:rPr sz="15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Identification and screening of a tadalafil analogue found in adulterated herbal products — PubMed 25402198</a:t>
            </a:r>
          </a:p>
          <a:p>
            <a:pPr algn="l" lvl="1"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5C8A"/>
                </a:solidFill>
                <a:latin typeface="맑은 고딕"/>
                <a:ea typeface="맑은 고딕"/>
                <a:cs typeface="맑은 고딕"/>
              </a:rPr>
              <a:t>–  </a:t>
            </a:r>
            <a:r>
              <a:rPr sz="15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Detection of a Tadalafil Analogue as an Adulterant in a Dietary Supplement for ED — academia.edu</a:t>
            </a:r>
          </a:p>
          <a:p>
            <a:pPr algn="l" lvl="1"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5C8A"/>
                </a:solidFill>
                <a:latin typeface="맑은 고딕"/>
                <a:ea typeface="맑은 고딕"/>
                <a:cs typeface="맑은 고딕"/>
              </a:rPr>
              <a:t>–  </a:t>
            </a:r>
            <a:r>
              <a:rPr sz="15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Strategies for characterizing sildenafil/vardenafil/tadalafil and their analogues in herbal supplements</a:t>
            </a:r>
          </a:p>
          <a:p>
            <a:pPr algn="l" lvl="1"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5C8A"/>
                </a:solidFill>
                <a:latin typeface="맑은 고딕"/>
                <a:ea typeface="맑은 고딕"/>
                <a:cs typeface="맑은 고딕"/>
              </a:rPr>
              <a:t>–  </a:t>
            </a:r>
            <a:r>
              <a:rPr sz="1500" b="0">
                <a:solidFill>
                  <a:srgbClr val="444444"/>
                </a:solidFill>
                <a:latin typeface="맑은 고딕"/>
                <a:ea typeface="맑은 고딕"/>
                <a:cs typeface="맑은 고딕"/>
              </a:rPr>
              <a:t>Horny Goat Weed — LiverTox / NCBI Bookshelf NBK583203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80760"/>
            <a:ext cx="1106424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888888"/>
                </a:solidFill>
                <a:latin typeface="맑은 고딕"/>
                <a:ea typeface="맑은 고딕"/>
                <a:cs typeface="맑은 고딕"/>
              </a:rPr>
              <a:t>※ 본 자료는 공개 과학문헌·화학정보에 근거하며 법적 자문이 아님. 규제대응·회수결정은 전문 변호사·공인분석기관과 협의 요망.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